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"/>
  </p:notesMasterIdLst>
  <p:sldIdLst>
    <p:sldId id="288" r:id="rId3"/>
    <p:sldId id="300" r:id="rId5"/>
    <p:sldId id="295" r:id="rId6"/>
    <p:sldId id="305" r:id="rId7"/>
    <p:sldId id="293" r:id="rId8"/>
    <p:sldId id="311" r:id="rId9"/>
    <p:sldId id="312" r:id="rId10"/>
    <p:sldId id="307" r:id="rId11"/>
    <p:sldId id="314" r:id="rId12"/>
    <p:sldId id="319" r:id="rId13"/>
    <p:sldId id="320" r:id="rId14"/>
    <p:sldId id="315" r:id="rId15"/>
    <p:sldId id="308" r:id="rId16"/>
    <p:sldId id="317" r:id="rId17"/>
    <p:sldId id="318" r:id="rId18"/>
    <p:sldId id="301" r:id="rId19"/>
    <p:sldId id="316" r:id="rId20"/>
    <p:sldId id="310" r:id="rId21"/>
    <p:sldId id="303" r:id="rId22"/>
    <p:sldId id="313" r:id="rId23"/>
    <p:sldId id="290" r:id="rId2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700"/>
    <a:srgbClr val="A3CC54"/>
    <a:srgbClr val="006C93"/>
    <a:srgbClr val="A5D259"/>
    <a:srgbClr val="005C83"/>
    <a:srgbClr val="0080A4"/>
    <a:srgbClr val="FEAD29"/>
    <a:srgbClr val="9FCA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9271" autoAdjust="0"/>
  </p:normalViewPr>
  <p:slideViewPr>
    <p:cSldViewPr snapToGrid="0">
      <p:cViewPr varScale="1">
        <p:scale>
          <a:sx n="100" d="100"/>
          <a:sy n="100" d="100"/>
        </p:scale>
        <p:origin x="883" y="58"/>
      </p:cViewPr>
      <p:guideLst/>
    </p:cSldViewPr>
  </p:slideViewPr>
  <p:outlineViewPr>
    <p:cViewPr>
      <p:scale>
        <a:sx n="33" d="100"/>
        <a:sy n="33" d="100"/>
      </p:scale>
      <p:origin x="0" y="-28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0" Type="http://schemas.openxmlformats.org/officeDocument/2006/relationships/customXml" Target="../customXml/item3.xml"/><Relationship Id="rId3" Type="http://schemas.openxmlformats.org/officeDocument/2006/relationships/slide" Target="slides/slide1.xml"/><Relationship Id="rId29" Type="http://schemas.openxmlformats.org/officeDocument/2006/relationships/customXml" Target="../customXml/item2.xml"/><Relationship Id="rId28" Type="http://schemas.openxmlformats.org/officeDocument/2006/relationships/customXml" Target="../customXml/item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B5C341-7210-4F38-ABD8-D11202178823}" type="datetimeFigureOut">
              <a:rPr lang="zh-TW" altLang="en-US" smtClean="0"/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ED69D4-DD47-449F-B599-13612730EB0E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W title slide 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70490" y="425669"/>
            <a:ext cx="7200000" cy="1960264"/>
          </a:xfrm>
        </p:spPr>
        <p:txBody>
          <a:bodyPr lIns="0" tIns="0" rIns="0" bIns="0" anchor="b">
            <a:normAutofit/>
          </a:bodyPr>
          <a:lstStyle>
            <a:lvl1pPr algn="l" rtl="0">
              <a:lnSpc>
                <a:spcPct val="100000"/>
              </a:lnSpc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zh-TW" altLang="en-US" dirty="0"/>
              <a:t>按一下以編輯母片標題樣式</a:t>
            </a:r>
            <a:br>
              <a:rPr lang="en-US" altLang="zh-TW" dirty="0"/>
            </a:br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522033" y="2688144"/>
            <a:ext cx="4276133" cy="103270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ts val="14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altLang="zh-TW" dirty="0"/>
              <a:t>Presenter’s Name </a:t>
            </a:r>
            <a:endParaRPr lang="en-US" altLang="zh-TW" dirty="0"/>
          </a:p>
          <a:p>
            <a:pPr lvl="0"/>
            <a:r>
              <a:rPr lang="en-US" altLang="zh-TW" dirty="0"/>
              <a:t>Presenter’s Dept.</a:t>
            </a:r>
            <a:endParaRPr lang="en-US" altLang="zh-TW" dirty="0"/>
          </a:p>
          <a:p>
            <a:pPr lvl="0"/>
            <a:r>
              <a:rPr lang="en-US" altLang="zh-TW" dirty="0" err="1"/>
              <a:t>yyyy</a:t>
            </a:r>
            <a:r>
              <a:rPr lang="en-US" altLang="zh-TW" dirty="0"/>
              <a:t>/mm/dd</a:t>
            </a:r>
            <a:endParaRPr lang="en-US" altLang="zh-TW" dirty="0"/>
          </a:p>
          <a:p>
            <a:pPr lvl="0"/>
            <a:endParaRPr lang="en-US" altLang="zh-TW" dirty="0"/>
          </a:p>
        </p:txBody>
      </p:sp>
      <p:pic>
        <p:nvPicPr>
          <p:cNvPr id="5" name="圖片 4" descr="一張含有 字型, 圖形, 文字, 平面設計 的圖片&#10;&#10;自動產生的描述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980" y="4480145"/>
            <a:ext cx="1778329" cy="769469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404218" y="2724969"/>
            <a:ext cx="36000" cy="482575"/>
          </a:xfrm>
          <a:prstGeom prst="rect">
            <a:avLst/>
          </a:prstGeom>
          <a:solidFill>
            <a:srgbClr val="A3CC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Blue_White_Section_header">
    <p:bg>
      <p:bgPr>
        <a:solidFill>
          <a:srgbClr val="006C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6584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4" name="圖片 3" descr="一張含有 字型, 圖形, 文字, 平面設計 的圖片&#10;&#10;自動產生的描述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2784" y="4576146"/>
            <a:ext cx="1311215" cy="5673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stron_T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285" y="827773"/>
            <a:ext cx="8639999" cy="4023432"/>
          </a:xfrm>
          <a:prstGeom prst="rect">
            <a:avLst/>
          </a:prstGeo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/>
            </a:lvl1pPr>
            <a:lvl5pPr marL="1371600" indent="0">
              <a:buNone/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  <a:p>
            <a:pPr lvl="3"/>
            <a:r>
              <a:rPr lang="zh-TW" altLang="en-US" dirty="0"/>
              <a:t>第四層</a:t>
            </a:r>
            <a:endParaRPr lang="zh-TW" altLang="en-US" dirty="0"/>
          </a:p>
          <a:p>
            <a:pPr lvl="4"/>
            <a:r>
              <a:rPr lang="zh-TW" altLang="en-US" dirty="0"/>
              <a:t>第五層</a:t>
            </a:r>
            <a:endParaRPr lang="en-US" altLang="zh-TW" dirty="0"/>
          </a:p>
          <a:p>
            <a:pPr lvl="4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285" y="191586"/>
            <a:ext cx="8640000" cy="486993"/>
          </a:xfrm>
        </p:spPr>
        <p:txBody>
          <a:bodyPr>
            <a:normAutofit/>
          </a:bodyPr>
          <a:lstStyle>
            <a:lvl1pPr>
              <a:defRPr sz="3000" b="1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-232826" y="4878474"/>
            <a:ext cx="514108" cy="273844"/>
          </a:xfrm>
        </p:spPr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0" y="0"/>
            <a:ext cx="57600" cy="576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285" y="191586"/>
            <a:ext cx="8640000" cy="486993"/>
          </a:xfrm>
        </p:spPr>
        <p:txBody>
          <a:bodyPr>
            <a:normAutofit/>
          </a:bodyPr>
          <a:lstStyle>
            <a:lvl1pPr>
              <a:defRPr sz="3000" b="1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-232826" y="4878474"/>
            <a:ext cx="514108" cy="273844"/>
          </a:xfrm>
        </p:spPr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0" y="0"/>
            <a:ext cx="57600" cy="576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5" name="矩形 4"/>
          <p:cNvSpPr/>
          <p:nvPr userDrawn="1"/>
        </p:nvSpPr>
        <p:spPr>
          <a:xfrm>
            <a:off x="0" y="0"/>
            <a:ext cx="173255" cy="5101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e_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4761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3" name="圖片 2" descr="一張含有 字型, 圖形, 文字, 平面設計 的圖片&#10;&#10;自動產生的描述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346" y="4475747"/>
            <a:ext cx="1743460" cy="7543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lose_page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4761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3" name="圖片 2" descr="一張含有 字型, 圖形, 文字, 平面設計 的圖片&#10;&#10;自動產生的描述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346" y="4475747"/>
            <a:ext cx="1743460" cy="7543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5.jpe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0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0" y="0"/>
            <a:ext cx="57600" cy="432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>
          <a:xfrm>
            <a:off x="0" y="4905756"/>
            <a:ext cx="9144000" cy="23774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285" y="85708"/>
            <a:ext cx="8640000" cy="486993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-232826" y="4878474"/>
            <a:ext cx="51410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EACF097E-CCF1-4241-87BD-030B3D15E719}" type="slidenum">
              <a:rPr lang="zh-TW" altLang="en-US" smtClean="0"/>
            </a:fld>
            <a:endParaRPr lang="zh-TW" altLang="en-US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>
          <a:xfrm>
            <a:off x="251285" y="718956"/>
            <a:ext cx="8639999" cy="413225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  <a:p>
            <a:pPr lvl="3"/>
            <a:r>
              <a:rPr lang="zh-TW" altLang="en-US" dirty="0"/>
              <a:t>第四層</a:t>
            </a:r>
            <a:endParaRPr lang="zh-TW" altLang="en-US" dirty="0"/>
          </a:p>
          <a:p>
            <a:pPr lvl="4"/>
            <a:r>
              <a:rPr lang="zh-TW" altLang="en-US" dirty="0"/>
              <a:t>第五層</a:t>
            </a:r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.xml"/><Relationship Id="rId7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jpe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9.jpe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21.jpeg"/><Relationship Id="rId1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9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0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3.jpe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35.png"/><Relationship Id="rId2" Type="http://schemas.openxmlformats.org/officeDocument/2006/relationships/hyperlink" Target="https://www.tubagongju.cn/tools.html" TargetMode="External"/><Relationship Id="rId1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4000" b="0" i="0" u="none" strike="noStrike" cap="none" normalizeH="0" baseline="0" dirty="0">
                <a:ln>
                  <a:noFill/>
                </a:ln>
                <a:solidFill>
                  <a:srgbClr val="ECECF1"/>
                </a:solidFill>
                <a:effectLst/>
                <a:latin typeface="Arial Unicode MS" panose="020B0604020202020204" charset="-122"/>
              </a:rPr>
              <a:t>计算机：从齿轮到智能</a:t>
            </a:r>
            <a:endParaRPr kumimoji="0" lang="zh-CN" altLang="en-US" sz="4000" b="0" i="0" u="none" strike="noStrike" cap="none" normalizeH="0" baseline="0" dirty="0">
              <a:ln>
                <a:noFill/>
              </a:ln>
              <a:solidFill>
                <a:srgbClr val="ECECF1"/>
              </a:solidFill>
              <a:effectLst/>
              <a:latin typeface="Arial Unicode MS" panose="020B0604020202020204" charset="-122"/>
            </a:endParaRPr>
          </a:p>
        </p:txBody>
      </p:sp>
      <p:sp>
        <p:nvSpPr>
          <p:cNvPr id="6" name="文字版面配置區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altLang="zh-CN" dirty="0"/>
              <a:t>Yongfeng YF Xu</a:t>
            </a:r>
            <a:endParaRPr lang="en-US" altLang="zh-TW" dirty="0"/>
          </a:p>
          <a:p>
            <a:r>
              <a:rPr lang="en-US" altLang="zh-CN" dirty="0"/>
              <a:t>MLE500</a:t>
            </a:r>
            <a:endParaRPr lang="en-US" altLang="zh-TW" dirty="0"/>
          </a:p>
          <a:p>
            <a:r>
              <a:rPr lang="en-US" altLang="zh-TW" dirty="0"/>
              <a:t>2026/10/30</a:t>
            </a:r>
            <a:endParaRPr lang="en-US" altLang="zh-TW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4caed9d6-c0d5-402d-a13c-963d60d56e8c"/>
          <p:cNvSpPr txBox="1"/>
          <p:nvPr/>
        </p:nvSpPr>
        <p:spPr>
          <a:xfrm>
            <a:off x="5895975" y="4807268"/>
            <a:ext cx="2743200" cy="20574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68580" tIns="34290" rIns="68580" bIns="34290" rtlCol="0" anchor="ctr" anchorCtr="0"/>
          <a:lstStyle/>
          <a:p>
            <a:pPr algn="r">
              <a:defRPr/>
            </a:pPr>
            <a:r>
              <a:rPr lang="en-US" sz="750">
                <a:solidFill>
                  <a:srgbClr val="000000">
                    <a:alpha val="100000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</a:t>
            </a:r>
            <a:endParaRPr lang="en-US" sz="825"/>
          </a:p>
        </p:txBody>
      </p:sp>
      <p:sp>
        <p:nvSpPr>
          <p:cNvPr id="28" name="標題 2"/>
          <p:cNvSpPr txBox="1"/>
          <p:nvPr/>
        </p:nvSpPr>
        <p:spPr>
          <a:xfrm>
            <a:off x="251285" y="191586"/>
            <a:ext cx="8640000" cy="486993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000" b="1" dirty="0"/>
              <a:t>目录</a:t>
            </a:r>
            <a:endParaRPr lang="zh-TW" altLang="en-US" sz="3000" b="1" dirty="0"/>
          </a:p>
        </p:txBody>
      </p:sp>
      <p:sp>
        <p:nvSpPr>
          <p:cNvPr id="7" name="文本框 6"/>
          <p:cNvSpPr txBox="1"/>
          <p:nvPr/>
        </p:nvSpPr>
        <p:spPr>
          <a:xfrm>
            <a:off x="329565" y="852805"/>
            <a:ext cx="699770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计算机起源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计算机的组成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操作系统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工具推荐</a:t>
            </a:r>
            <a:endParaRPr lang="en-US" altLang="zh-TW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/>
          </a:p>
          <a:p>
            <a:endParaRPr lang="zh-CN" altLang="en-US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计算机起源</a:t>
            </a:r>
            <a:endParaRPr lang="zh-TW" altLang="en-US" b="1" dirty="0"/>
          </a:p>
        </p:txBody>
      </p:sp>
      <p:pic>
        <p:nvPicPr>
          <p:cNvPr id="4" name="图片 3" descr="计算机发展历程_waifu2x_photo_noise2_scale"/>
          <p:cNvPicPr>
            <a:picLocks noChangeAspect="1"/>
          </p:cNvPicPr>
          <p:nvPr/>
        </p:nvPicPr>
        <p:blipFill>
          <a:blip r:embed="rId1"/>
          <a:srcRect l="3730" t="2311" r="5658" b="1730"/>
          <a:stretch>
            <a:fillRect/>
          </a:stretch>
        </p:blipFill>
        <p:spPr>
          <a:xfrm>
            <a:off x="937260" y="610870"/>
            <a:ext cx="7035800" cy="43351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计算机起源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pic>
        <p:nvPicPr>
          <p:cNvPr id="6" name="图片 5" descr="image"/>
          <p:cNvPicPr>
            <a:picLocks noChangeAspect="1"/>
          </p:cNvPicPr>
          <p:nvPr/>
        </p:nvPicPr>
        <p:blipFill>
          <a:blip r:embed="rId1"/>
          <a:srcRect t="13198" r="1481" b="18037"/>
          <a:stretch>
            <a:fillRect/>
          </a:stretch>
        </p:blipFill>
        <p:spPr>
          <a:xfrm>
            <a:off x="340360" y="678815"/>
            <a:ext cx="3347085" cy="1995805"/>
          </a:xfrm>
          <a:prstGeom prst="rect">
            <a:avLst/>
          </a:prstGeom>
        </p:spPr>
      </p:pic>
      <p:pic>
        <p:nvPicPr>
          <p:cNvPr id="7" name="图片 6" descr="I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15" y="2921635"/>
            <a:ext cx="1758950" cy="1273175"/>
          </a:xfrm>
          <a:prstGeom prst="rect">
            <a:avLst/>
          </a:prstGeom>
        </p:spPr>
      </p:pic>
      <p:pic>
        <p:nvPicPr>
          <p:cNvPr id="8" name="图片 7" descr="Manchester-Baby"/>
          <p:cNvPicPr>
            <a:picLocks noChangeAspect="1"/>
          </p:cNvPicPr>
          <p:nvPr/>
        </p:nvPicPr>
        <p:blipFill>
          <a:blip r:embed="rId3"/>
          <a:srcRect r="29869"/>
          <a:stretch>
            <a:fillRect/>
          </a:stretch>
        </p:blipFill>
        <p:spPr>
          <a:xfrm>
            <a:off x="2245995" y="2936875"/>
            <a:ext cx="1637030" cy="1273175"/>
          </a:xfrm>
          <a:prstGeom prst="rect">
            <a:avLst/>
          </a:prstGeom>
        </p:spPr>
      </p:pic>
      <p:pic>
        <p:nvPicPr>
          <p:cNvPr id="9" name="图片 8" descr="底部标签"/>
          <p:cNvPicPr>
            <a:picLocks noChangeAspect="1"/>
          </p:cNvPicPr>
          <p:nvPr/>
        </p:nvPicPr>
        <p:blipFill>
          <a:blip r:embed="rId4"/>
          <a:srcRect r="53523"/>
          <a:stretch>
            <a:fillRect/>
          </a:stretch>
        </p:blipFill>
        <p:spPr>
          <a:xfrm>
            <a:off x="476250" y="4307840"/>
            <a:ext cx="1311910" cy="425450"/>
          </a:xfrm>
          <a:prstGeom prst="rect">
            <a:avLst/>
          </a:prstGeom>
        </p:spPr>
      </p:pic>
      <p:pic>
        <p:nvPicPr>
          <p:cNvPr id="10" name="图片 9" descr="底部标签"/>
          <p:cNvPicPr>
            <a:picLocks noChangeAspect="1"/>
          </p:cNvPicPr>
          <p:nvPr/>
        </p:nvPicPr>
        <p:blipFill>
          <a:blip r:embed="rId4"/>
          <a:srcRect l="52066"/>
          <a:stretch>
            <a:fillRect/>
          </a:stretch>
        </p:blipFill>
        <p:spPr>
          <a:xfrm>
            <a:off x="2475230" y="4317365"/>
            <a:ext cx="1202690" cy="4159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5"/>
          <a:srcRect l="4683" r="4790" b="3729"/>
          <a:stretch>
            <a:fillRect/>
          </a:stretch>
        </p:blipFill>
        <p:spPr>
          <a:xfrm>
            <a:off x="3996690" y="678578"/>
            <a:ext cx="5046350" cy="3516232"/>
          </a:xfrm>
          <a:prstGeom prst="rect">
            <a:avLst/>
          </a:prstGeom>
        </p:spPr>
      </p:pic>
      <p:cxnSp>
        <p:nvCxnSpPr>
          <p:cNvPr id="2" name="直接连接符 1"/>
          <p:cNvCxnSpPr/>
          <p:nvPr/>
        </p:nvCxnSpPr>
        <p:spPr>
          <a:xfrm>
            <a:off x="3959225" y="616585"/>
            <a:ext cx="13970" cy="39535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—CPU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745490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CPU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相关介绍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  <a:p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03835" y="999490"/>
            <a:ext cx="8286750" cy="983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      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CPU 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是中央处理器（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Central Processing Unit）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的简称，是计算机的核心部件，负责执行程序指令、进行算术和逻辑运算，并协调各硬件工作。它主要由运算器、控制器和缓存等组成，性能通常受核心数、线程数、主频、缓存和架构等影响。常见桌面/服务器 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CPU 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厂商有 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Intel 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 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AMD，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手机等移动设备则多采用 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 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架构处理器。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1"/>
          <a:srcRect l="1166" t="12906" r="2229" b="4802"/>
          <a:stretch>
            <a:fillRect/>
          </a:stretch>
        </p:blipFill>
        <p:spPr>
          <a:xfrm>
            <a:off x="1176814" y="1930409"/>
            <a:ext cx="6340792" cy="30147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1305" y="1953895"/>
            <a:ext cx="2470150" cy="6178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1066800"/>
            <a:ext cx="2383155" cy="761365"/>
          </a:xfrm>
          <a:prstGeom prst="rect">
            <a:avLst/>
          </a:prstGeom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—CPU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543560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Intel Core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系列型号简介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3308985" y="958215"/>
            <a:ext cx="5612765" cy="3999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      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超频，其实就是通过调整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CPU、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显卡、内存和主板的各项系统值，比如</a:t>
            </a:r>
            <a:r>
              <a:rPr lang="zh-CN" altLang="en-US" sz="1400" b="1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功率、电压、频率（</a:t>
            </a:r>
            <a:r>
              <a:rPr lang="en-US" altLang="zh-CN" sz="1400" b="1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CPU</a:t>
            </a:r>
            <a:r>
              <a:rPr lang="zh-CN" altLang="en-US" sz="1400" b="1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主频=外频</a:t>
            </a:r>
            <a:r>
              <a:rPr lang="en-US" altLang="zh-CN" sz="1400" b="1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lang="zh-CN" altLang="en-US" sz="1400" b="1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倍频）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等，以此来获得更卓越的电脑性能，也被戏称为免费的性能。</a:t>
            </a:r>
            <a:endParaRPr lang="zh-CN" altLang="en-US" sz="14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r>
              <a:rPr lang="en-US" altLang="zh-CN" sz="1400" b="1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1.</a:t>
            </a:r>
            <a:r>
              <a:rPr lang="zh-CN" altLang="en-US" sz="1400" b="1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超频方式</a:t>
            </a:r>
            <a:endParaRPr lang="zh-CN" altLang="en-US" sz="1400" b="1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硬超频：通过主板跳线或 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DIP 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开关设定外频、电压，需关机操作，试错成本高，仅见于复古平台或极限超频。</a:t>
            </a:r>
            <a:endParaRPr lang="en-US" altLang="zh-CN" sz="14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BIOS / UEFI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：开机进入主板固件界面，可调倍频、外频、电压等底层参数，风险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较低。</a:t>
            </a:r>
            <a:endParaRPr lang="en-US" altLang="zh-CN" sz="14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系统内软件：在 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Windows 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中用厂商工具调节，无需频繁重启，试错效率高。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Intel 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可用 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XTU，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部分版本带 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AI 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辅助；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AMD 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可用 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Ryzen Master，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支持实时调频调压和配置文件。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sz="1400" b="1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2.</a:t>
            </a:r>
            <a:r>
              <a:rPr lang="zh-CN" altLang="en-US" sz="1400" b="1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注意事项</a:t>
            </a:r>
            <a:endParaRPr lang="zh-CN" altLang="en-US" sz="1400" b="1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CPU：Intel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平台通常需要带“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K”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或“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KF”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后缀的未锁频型号；</a:t>
            </a:r>
            <a:endParaRPr lang="en-US" altLang="zh-CN" sz="14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主板：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Intel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需搭配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Z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系列（如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Z790）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等支持超频的芯片组；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AMD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建议使用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B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或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X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系列。主板的供电相数很重要，供电越强，超频后运行越稳定。</a:t>
            </a:r>
            <a:endParaRPr lang="en-US" altLang="zh-CN" sz="14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散热：建议至少配备高端风冷或280</a:t>
            </a:r>
            <a:r>
              <a:rPr lang="en-US" altLang="zh-CN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mm/360mm</a:t>
            </a:r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一体式水冷。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cxnSp>
        <p:nvCxnSpPr>
          <p:cNvPr id="8" name="直接连接符 7"/>
          <p:cNvCxnSpPr/>
          <p:nvPr/>
        </p:nvCxnSpPr>
        <p:spPr>
          <a:xfrm>
            <a:off x="3221990" y="925195"/>
            <a:ext cx="13970" cy="39535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" y="986155"/>
            <a:ext cx="2658110" cy="1705610"/>
          </a:xfrm>
          <a:prstGeom prst="rect">
            <a:avLst/>
          </a:prstGeom>
        </p:spPr>
      </p:pic>
      <p:pic>
        <p:nvPicPr>
          <p:cNvPr id="5" name="图片 4" descr="萝卜散热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300" y="981075"/>
            <a:ext cx="2665730" cy="1715770"/>
          </a:xfrm>
          <a:prstGeom prst="rect">
            <a:avLst/>
          </a:prstGeom>
        </p:spPr>
      </p:pic>
      <p:pic>
        <p:nvPicPr>
          <p:cNvPr id="11" name="图片 10" descr="超频_waifu2x_noise2_scale2x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45" y="2999105"/>
            <a:ext cx="3017520" cy="176657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 rotWithShape="1">
          <a:blip r:embed="rId6"/>
          <a:srcRect l="2437" t="18422" r="3917" b="6478"/>
          <a:stretch>
            <a:fillRect/>
          </a:stretch>
        </p:blipFill>
        <p:spPr>
          <a:xfrm>
            <a:off x="131445" y="981075"/>
            <a:ext cx="8685530" cy="39198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—CPU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650240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CPU</a:t>
            </a:r>
            <a:r>
              <a:rPr lang="zh-CN" altLang="en-US" sz="2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拆解</a:t>
            </a:r>
            <a:r>
              <a:rPr lang="zh-CN" altLang="en-US" sz="2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详解</a:t>
            </a:r>
            <a:endParaRPr lang="zh-CN" altLang="en-US" sz="20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pic>
        <p:nvPicPr>
          <p:cNvPr id="10" name="图片 9" descr="🧠 CPU芯片拆解：从外壳到纳米世界_1_AcceptLa_来自小红书网页版"/>
          <p:cNvPicPr>
            <a:picLocks noChangeAspect="1"/>
          </p:cNvPicPr>
          <p:nvPr/>
        </p:nvPicPr>
        <p:blipFill>
          <a:blip r:embed="rId1"/>
          <a:srcRect l="3738" t="11103" r="2161" b="50000"/>
          <a:stretch>
            <a:fillRect/>
          </a:stretch>
        </p:blipFill>
        <p:spPr>
          <a:xfrm>
            <a:off x="1251585" y="1084580"/>
            <a:ext cx="6381750" cy="37331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—GPU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710565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GPU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相关介绍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  <a:p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057650" y="999490"/>
            <a:ext cx="4319270" cy="3291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   GPU（Graphics Processing Unit，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图形处理器）是一块专门用于并行处理大量重复计算的芯片，最初主要用于图形渲染，如今已广泛应用于</a:t>
            </a:r>
            <a:r>
              <a:rPr lang="en-US" altLang="zh-CN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AI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和科学计算等领域。</a:t>
            </a:r>
            <a:endParaRPr lang="en-US" altLang="zh-CN" sz="16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   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在</a:t>
            </a:r>
            <a:r>
              <a:rPr lang="en-US" altLang="zh-CN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CPU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与</a:t>
            </a:r>
            <a:r>
              <a:rPr lang="en-US" altLang="zh-CN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GPU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的协作中，二者构成了“主从协同”的异构计算关系，具体分工如下：</a:t>
            </a:r>
            <a:endParaRPr lang="en-US" altLang="zh-CN" sz="16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CPU（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指挥中枢）：凭借少量高性能核心，负责低延迟的逻辑控制、复杂指令处理及全局任务调度。</a:t>
            </a:r>
            <a:endParaRPr lang="en-US" altLang="zh-CN" sz="16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GPU（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并行加速器）：依托大量核心，专注于高吞吐量的并行计算。</a:t>
            </a:r>
            <a:endParaRPr lang="en-US" altLang="zh-CN" sz="16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协同效果：两者优势互补，共同完成复杂的任务处理。</a:t>
            </a:r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pic>
        <p:nvPicPr>
          <p:cNvPr id="5" name="图片 4" descr="image (2)"/>
          <p:cNvPicPr>
            <a:picLocks noChangeAspect="1"/>
          </p:cNvPicPr>
          <p:nvPr/>
        </p:nvPicPr>
        <p:blipFill>
          <a:blip r:embed="rId1"/>
          <a:srcRect l="3352" t="6792" r="3339" b="5910"/>
          <a:stretch>
            <a:fillRect/>
          </a:stretch>
        </p:blipFill>
        <p:spPr>
          <a:xfrm>
            <a:off x="330200" y="970915"/>
            <a:ext cx="3475355" cy="1866265"/>
          </a:xfrm>
          <a:prstGeom prst="rect">
            <a:avLst/>
          </a:prstGeom>
        </p:spPr>
      </p:pic>
      <p:pic>
        <p:nvPicPr>
          <p:cNvPr id="7" name="图片 6" descr="cpu与gpu"/>
          <p:cNvPicPr>
            <a:picLocks noChangeAspect="1"/>
          </p:cNvPicPr>
          <p:nvPr/>
        </p:nvPicPr>
        <p:blipFill>
          <a:blip r:embed="rId2"/>
          <a:srcRect t="2432" b="53975"/>
          <a:stretch>
            <a:fillRect/>
          </a:stretch>
        </p:blipFill>
        <p:spPr>
          <a:xfrm>
            <a:off x="332740" y="2870200"/>
            <a:ext cx="3472815" cy="19519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—GPU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710565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GPU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相关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技术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  <a:p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730" y="972820"/>
            <a:ext cx="6951980" cy="38436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—GPU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710565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GPU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相关技术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光线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追踪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  <a:p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95960" y="1586865"/>
            <a:ext cx="155321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解释什么是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光线追踪，其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特点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rcRect t="12272" r="5642" b="6785"/>
          <a:stretch>
            <a:fillRect/>
          </a:stretch>
        </p:blipFill>
        <p:spPr>
          <a:xfrm>
            <a:off x="3805555" y="710565"/>
            <a:ext cx="4762500" cy="22301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rcRect l="8020" t="11935" r="7124" b="10893"/>
          <a:stretch>
            <a:fillRect/>
          </a:stretch>
        </p:blipFill>
        <p:spPr>
          <a:xfrm>
            <a:off x="3702050" y="3203575"/>
            <a:ext cx="2372360" cy="15278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rcRect l="8439" t="12000" r="7620" b="11407"/>
          <a:stretch>
            <a:fillRect/>
          </a:stretch>
        </p:blipFill>
        <p:spPr>
          <a:xfrm>
            <a:off x="6299835" y="3203575"/>
            <a:ext cx="2591435" cy="1528445"/>
          </a:xfrm>
          <a:prstGeom prst="rect">
            <a:avLst/>
          </a:prstGeom>
        </p:spPr>
      </p:pic>
      <p:cxnSp>
        <p:nvCxnSpPr>
          <p:cNvPr id="9" name="直接箭头连接符 8"/>
          <p:cNvCxnSpPr>
            <a:stCxn id="6" idx="3"/>
            <a:endCxn id="7" idx="1"/>
          </p:cNvCxnSpPr>
          <p:nvPr/>
        </p:nvCxnSpPr>
        <p:spPr>
          <a:xfrm>
            <a:off x="6074410" y="3967480"/>
            <a:ext cx="225425" cy="6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—GPU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710565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GPU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相关技术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—DLSS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  <a:p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t="17440" b="9857"/>
          <a:stretch>
            <a:fillRect/>
          </a:stretch>
        </p:blipFill>
        <p:spPr>
          <a:xfrm>
            <a:off x="3470275" y="1144270"/>
            <a:ext cx="4695190" cy="192024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4931410" y="2102485"/>
            <a:ext cx="1574800" cy="9080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GPU</a:t>
            </a:r>
            <a:endParaRPr lang="en-US" altLang="zh-CN"/>
          </a:p>
        </p:txBody>
      </p:sp>
      <p:sp>
        <p:nvSpPr>
          <p:cNvPr id="6" name="L 形 5"/>
          <p:cNvSpPr/>
          <p:nvPr/>
        </p:nvSpPr>
        <p:spPr>
          <a:xfrm rot="10800000">
            <a:off x="4931410" y="1144270"/>
            <a:ext cx="3171190" cy="1866265"/>
          </a:xfrm>
          <a:prstGeom prst="corner">
            <a:avLst>
              <a:gd name="adj1" fmla="val 50000"/>
              <a:gd name="adj2" fmla="val 85471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6249035" y="1466215"/>
            <a:ext cx="12731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DLSS</a:t>
            </a:r>
            <a:endParaRPr lang="en-US" altLang="zh-CN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rcRect l="17974" t="12956" r="21494" b="9940"/>
          <a:stretch>
            <a:fillRect/>
          </a:stretch>
        </p:blipFill>
        <p:spPr>
          <a:xfrm>
            <a:off x="3382645" y="3121660"/>
            <a:ext cx="2256155" cy="161671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rcRect l="20310" t="11356" r="21502" b="10929"/>
          <a:stretch>
            <a:fillRect/>
          </a:stretch>
        </p:blipFill>
        <p:spPr>
          <a:xfrm>
            <a:off x="5939155" y="3121660"/>
            <a:ext cx="2150745" cy="1616710"/>
          </a:xfrm>
          <a:prstGeom prst="rect">
            <a:avLst/>
          </a:prstGeom>
        </p:spPr>
      </p:pic>
      <p:cxnSp>
        <p:nvCxnSpPr>
          <p:cNvPr id="12" name="直接箭头连接符 11"/>
          <p:cNvCxnSpPr>
            <a:stCxn id="10" idx="3"/>
            <a:endCxn id="11" idx="1"/>
          </p:cNvCxnSpPr>
          <p:nvPr/>
        </p:nvCxnSpPr>
        <p:spPr>
          <a:xfrm>
            <a:off x="5638800" y="3930015"/>
            <a:ext cx="3003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695960" y="1586865"/>
            <a:ext cx="155321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解释什么是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DLSS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，其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特点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—GPU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2" name="標題 2"/>
          <p:cNvSpPr>
            <a:spLocks noGrp="1"/>
          </p:cNvSpPr>
          <p:nvPr/>
        </p:nvSpPr>
        <p:spPr>
          <a:xfrm>
            <a:off x="281305" y="710565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GPU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拆解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图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  <a:p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pic>
        <p:nvPicPr>
          <p:cNvPr id="4" name="图片 3" descr="多图看懂“高端显卡vs入门显卡”差距_1_AcceptLa_来自小红书网页版"/>
          <p:cNvPicPr>
            <a:picLocks noChangeAspect="1"/>
          </p:cNvPicPr>
          <p:nvPr/>
        </p:nvPicPr>
        <p:blipFill>
          <a:blip r:embed="rId1"/>
          <a:srcRect t="18481"/>
          <a:stretch>
            <a:fillRect/>
          </a:stretch>
        </p:blipFill>
        <p:spPr>
          <a:xfrm>
            <a:off x="153035" y="908685"/>
            <a:ext cx="4613275" cy="39700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内存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pic>
        <p:nvPicPr>
          <p:cNvPr id="2" name="图片 1" descr="🔥 一口气看懂 CPU、主板、显卡、内存条！_4_知晓栈_来自小红书网页版"/>
          <p:cNvPicPr>
            <a:picLocks noChangeAspect="1"/>
          </p:cNvPicPr>
          <p:nvPr/>
        </p:nvPicPr>
        <p:blipFill>
          <a:blip r:embed="rId1"/>
          <a:srcRect t="16123" b="37333"/>
          <a:stretch>
            <a:fillRect/>
          </a:stretch>
        </p:blipFill>
        <p:spPr>
          <a:xfrm>
            <a:off x="1105535" y="775970"/>
            <a:ext cx="6139180" cy="381063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317365" y="564515"/>
            <a:ext cx="15455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重新</a:t>
            </a:r>
            <a:r>
              <a:rPr lang="zh-CN" altLang="en-US"/>
              <a:t>画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内存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4" name="標題 2"/>
          <p:cNvSpPr>
            <a:spLocks noGrp="1"/>
          </p:cNvSpPr>
          <p:nvPr/>
        </p:nvSpPr>
        <p:spPr>
          <a:xfrm>
            <a:off x="1471930" y="2084705"/>
            <a:ext cx="6412230" cy="60007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内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存是怎么加载比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它还大的程式</a:t>
            </a:r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的？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计算机的组成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内存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pic>
        <p:nvPicPr>
          <p:cNvPr id="2" name="图片 1" descr="C++面经：虚拟内存如何映射到物理内存？_1_小镜AI_来自小红书网页版"/>
          <p:cNvPicPr>
            <a:picLocks noChangeAspect="1"/>
          </p:cNvPicPr>
          <p:nvPr/>
        </p:nvPicPr>
        <p:blipFill>
          <a:blip r:embed="rId1"/>
          <a:srcRect t="21136" b="3012"/>
          <a:stretch>
            <a:fillRect/>
          </a:stretch>
        </p:blipFill>
        <p:spPr>
          <a:xfrm>
            <a:off x="5774690" y="1385570"/>
            <a:ext cx="2977515" cy="30118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操作系统</a:t>
            </a:r>
            <a:endParaRPr lang="zh-TW" altLang="en-US" b="1" dirty="0"/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pic>
        <p:nvPicPr>
          <p:cNvPr id="2" name="图片 1" descr="操作系统"/>
          <p:cNvPicPr>
            <a:picLocks noChangeAspect="1"/>
          </p:cNvPicPr>
          <p:nvPr/>
        </p:nvPicPr>
        <p:blipFill>
          <a:blip r:embed="rId1"/>
          <a:srcRect l="4343" r="3875" b="-1624"/>
          <a:stretch>
            <a:fillRect/>
          </a:stretch>
        </p:blipFill>
        <p:spPr>
          <a:xfrm>
            <a:off x="4314190" y="1183640"/>
            <a:ext cx="4653280" cy="3221355"/>
          </a:xfrm>
          <a:prstGeom prst="rect">
            <a:avLst/>
          </a:prstGeom>
        </p:spPr>
      </p:pic>
      <p:sp>
        <p:nvSpPr>
          <p:cNvPr id="4" name="標題 2"/>
          <p:cNvSpPr>
            <a:spLocks noGrp="1"/>
          </p:cNvSpPr>
          <p:nvPr/>
        </p:nvSpPr>
        <p:spPr>
          <a:xfrm>
            <a:off x="281305" y="605790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操作系统相关介绍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34060" y="1647825"/>
            <a:ext cx="23939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操作系统所扮演的</a:t>
            </a:r>
            <a:r>
              <a:rPr lang="zh-CN" altLang="en-US"/>
              <a:t>角色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操作系统</a:t>
            </a:r>
            <a:endParaRPr lang="zh-TW" altLang="en-US" b="1" dirty="0"/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sp>
        <p:nvSpPr>
          <p:cNvPr id="4" name="標題 2"/>
          <p:cNvSpPr>
            <a:spLocks noGrp="1"/>
          </p:cNvSpPr>
          <p:nvPr/>
        </p:nvSpPr>
        <p:spPr>
          <a:xfrm>
            <a:off x="2275205" y="2084705"/>
            <a:ext cx="4813935" cy="60007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32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操作系统是如何启动的呢？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操作系统</a:t>
            </a:r>
            <a:endParaRPr lang="zh-TW" altLang="en-US" b="1" dirty="0"/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pic>
        <p:nvPicPr>
          <p:cNvPr id="2" name="图片 1" descr="一图读懂 PC机从按下电源到系统启动的过程_1_老陈嵌入式PCBA开发_来自小红书网页版"/>
          <p:cNvPicPr>
            <a:picLocks noChangeAspect="1"/>
          </p:cNvPicPr>
          <p:nvPr/>
        </p:nvPicPr>
        <p:blipFill>
          <a:blip r:embed="rId1"/>
          <a:srcRect t="4938" b="19358"/>
          <a:stretch>
            <a:fillRect/>
          </a:stretch>
        </p:blipFill>
        <p:spPr>
          <a:xfrm>
            <a:off x="126365" y="678815"/>
            <a:ext cx="3164205" cy="4257040"/>
          </a:xfrm>
          <a:prstGeom prst="rect">
            <a:avLst/>
          </a:prstGeom>
        </p:spPr>
      </p:pic>
      <p:pic>
        <p:nvPicPr>
          <p:cNvPr id="4" name="图片 3" descr="一图读懂 PC机从按下电源到系统启动的过程_1_老陈嵌入式PCBA开发_来自小红书网页版"/>
          <p:cNvPicPr>
            <a:picLocks noChangeAspect="1"/>
          </p:cNvPicPr>
          <p:nvPr/>
        </p:nvPicPr>
        <p:blipFill>
          <a:blip r:embed="rId1"/>
          <a:srcRect l="4488" t="80198" r="4413"/>
          <a:stretch>
            <a:fillRect/>
          </a:stretch>
        </p:blipFill>
        <p:spPr>
          <a:xfrm>
            <a:off x="3362960" y="1521460"/>
            <a:ext cx="5439410" cy="21012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299257" y="191586"/>
            <a:ext cx="8592027" cy="486993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工具推荐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图吧工具箱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" y="775970"/>
            <a:ext cx="781050" cy="69532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165225" y="954723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zh-CN" altLang="en-US" sz="1600">
                <a:hlinkClick r:id="rId2"/>
              </a:rPr>
              <a:t>图吧工具箱工具列表 </a:t>
            </a:r>
            <a:r>
              <a:rPr lang="en-US" altLang="zh-CN" sz="1600">
                <a:hlinkClick r:id="rId2"/>
              </a:rPr>
              <a:t>- </a:t>
            </a:r>
            <a:r>
              <a:rPr lang="zh-CN" altLang="en-US" sz="1600">
                <a:hlinkClick r:id="rId2"/>
              </a:rPr>
              <a:t>全部内置检测工具分类详解</a:t>
            </a:r>
            <a:endParaRPr lang="zh-CN" altLang="en-US" sz="1600">
              <a:hlinkClick r:id="rId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170" y="1334135"/>
            <a:ext cx="6104255" cy="35445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299257" y="191586"/>
            <a:ext cx="8592027" cy="486993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工具推荐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图吧工具箱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F097E-CCF1-4241-87BD-030B3D15E719}" type="slidenum">
              <a:rPr lang="zh-TW" altLang="en-US" smtClean="0"/>
            </a:fld>
            <a:endParaRPr lang="zh-TW" altLang="en-US"/>
          </a:p>
        </p:txBody>
      </p:sp>
      <p:cxnSp>
        <p:nvCxnSpPr>
          <p:cNvPr id="2" name="直接连接符 1"/>
          <p:cNvCxnSpPr/>
          <p:nvPr/>
        </p:nvCxnSpPr>
        <p:spPr>
          <a:xfrm>
            <a:off x="4710430" y="724535"/>
            <a:ext cx="13970" cy="39535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標題 2"/>
          <p:cNvSpPr>
            <a:spLocks noGrp="1"/>
          </p:cNvSpPr>
          <p:nvPr/>
        </p:nvSpPr>
        <p:spPr>
          <a:xfrm>
            <a:off x="281305" y="710565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屏幕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工具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5" name="標題 2"/>
          <p:cNvSpPr>
            <a:spLocks noGrp="1"/>
          </p:cNvSpPr>
          <p:nvPr/>
        </p:nvSpPr>
        <p:spPr>
          <a:xfrm>
            <a:off x="4810125" y="711835"/>
            <a:ext cx="8639810" cy="48704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性能测试工具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—3DMARK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rcRect l="16618" t="9202" r="17681" b="9717"/>
          <a:stretch>
            <a:fillRect/>
          </a:stretch>
        </p:blipFill>
        <p:spPr>
          <a:xfrm>
            <a:off x="4883785" y="1337945"/>
            <a:ext cx="3870960" cy="24669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" y="2289175"/>
            <a:ext cx="4563110" cy="251587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" y="1062990"/>
            <a:ext cx="3228975" cy="1152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altLang="zh-TW" b="1" dirty="0"/>
            </a:br>
            <a:r>
              <a:rPr lang="en-US" altLang="zh-TW" dirty="0"/>
              <a:t>Thank You!</a:t>
            </a:r>
            <a:endParaRPr lang="zh-TW" altLang="en-US" sz="1400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Wistron_standard_16x9_2024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ae8092e-10d6-4210-bc3c-7bcab95eb8fb">
      <Terms xmlns="http://schemas.microsoft.com/office/infopath/2007/PartnerControls"/>
    </lcf76f155ced4ddcb4097134ff3c332f>
    <TaxCatchAll xmlns="b9dedae1-e2ce-4543-bce0-733eaa9bea99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文档" ma:contentTypeID="0x010100AEF1C4AD1873EB429EECF15B4CD65E79" ma:contentTypeVersion="14" ma:contentTypeDescription="新建文档。" ma:contentTypeScope="" ma:versionID="f0827ec25361b3da42f2bcf997ca521d">
  <xsd:schema xmlns:xsd="http://www.w3.org/2001/XMLSchema" xmlns:xs="http://www.w3.org/2001/XMLSchema" xmlns:p="http://schemas.microsoft.com/office/2006/metadata/properties" xmlns:ns2="bae8092e-10d6-4210-bc3c-7bcab95eb8fb" xmlns:ns3="b9dedae1-e2ce-4543-bce0-733eaa9bea99" targetNamespace="http://schemas.microsoft.com/office/2006/metadata/properties" ma:root="true" ma:fieldsID="5f041aae75320ea3a7d9a9aaadde0e2b" ns2:_="" ns3:_="">
    <xsd:import namespace="bae8092e-10d6-4210-bc3c-7bcab95eb8fb"/>
    <xsd:import namespace="b9dedae1-e2ce-4543-bce0-733eaa9bea9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e8092e-10d6-4210-bc3c-7bcab95eb8f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图像标记" ma:readOnly="false" ma:fieldId="{5cf76f15-5ced-4ddc-b409-7134ff3c332f}" ma:taxonomyMulti="true" ma:sspId="0976e0b1-4055-4d4c-95fd-22a18192cb6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edae1-e2ce-4543-bce0-733eaa9bea99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共享对象: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共享对象详细信息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9c4af147-bf5a-42a7-9f64-c22ca900f2de}" ma:internalName="TaxCatchAll" ma:showField="CatchAllData" ma:web="b9dedae1-e2ce-4543-bce0-733eaa9bea9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内容类型"/>
        <xsd:element ref="dc:title" minOccurs="0" maxOccurs="1" ma:index="4" ma:displayName="标题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CE4420F-7E8D-401A-A831-DC15CCB5A0FC}">
  <ds:schemaRefs/>
</ds:datastoreItem>
</file>

<file path=customXml/itemProps2.xml><?xml version="1.0" encoding="utf-8"?>
<ds:datastoreItem xmlns:ds="http://schemas.openxmlformats.org/officeDocument/2006/customXml" ds:itemID="{3578F519-BE28-4B65-84E6-1D289D1614D4}">
  <ds:schemaRefs/>
</ds:datastoreItem>
</file>

<file path=customXml/itemProps3.xml><?xml version="1.0" encoding="utf-8"?>
<ds:datastoreItem xmlns:ds="http://schemas.openxmlformats.org/officeDocument/2006/customXml" ds:itemID="{ECBE940F-A28C-46AF-9B9A-9F64DFDA07D3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1270</Words>
  <Application>WPS 演示</Application>
  <PresentationFormat>全屏显示(16:9)</PresentationFormat>
  <Paragraphs>154</Paragraphs>
  <Slides>21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7" baseType="lpstr">
      <vt:lpstr>Arial</vt:lpstr>
      <vt:lpstr>宋体</vt:lpstr>
      <vt:lpstr>Wingdings</vt:lpstr>
      <vt:lpstr>Arial Unicode MS</vt:lpstr>
      <vt:lpstr>Arial</vt:lpstr>
      <vt:lpstr>微软雅黑</vt:lpstr>
      <vt:lpstr>黑体</vt:lpstr>
      <vt:lpstr>Microsoft JhengHei</vt:lpstr>
      <vt:lpstr>Aptos</vt:lpstr>
      <vt:lpstr>Segoe UI</vt:lpstr>
      <vt:lpstr>等线</vt:lpstr>
      <vt:lpstr>PMingLiU</vt:lpstr>
      <vt:lpstr>FFont-Family</vt:lpstr>
      <vt:lpstr>Calibri</vt:lpstr>
      <vt:lpstr>Wingdings</vt:lpstr>
      <vt:lpstr>Wistron_standard_16x9_2024</vt:lpstr>
      <vt:lpstr>计算机：从齿轮到智能</vt:lpstr>
      <vt:lpstr>PowerPoint 演示文稿</vt:lpstr>
      <vt:lpstr>计算机起源</vt:lpstr>
      <vt:lpstr>计算机起源</vt:lpstr>
      <vt:lpstr>计算机的组成—CPU</vt:lpstr>
      <vt:lpstr>计算机的组成—CPU</vt:lpstr>
      <vt:lpstr>计算机的组成—CPU</vt:lpstr>
      <vt:lpstr>计算机的组成—GPU</vt:lpstr>
      <vt:lpstr>计算机的组成—GPU</vt:lpstr>
      <vt:lpstr>计算机的组成—GPU</vt:lpstr>
      <vt:lpstr>计算机的组成—GPU</vt:lpstr>
      <vt:lpstr>计算机的组成—GPU</vt:lpstr>
      <vt:lpstr>计算机的组成—内存</vt:lpstr>
      <vt:lpstr>计算机的组成—内存</vt:lpstr>
      <vt:lpstr>计算机的组成—内存</vt:lpstr>
      <vt:lpstr>操作系统</vt:lpstr>
      <vt:lpstr>操作系统</vt:lpstr>
      <vt:lpstr>操作系统</vt:lpstr>
      <vt:lpstr>工具推荐—图吧工具箱</vt:lpstr>
      <vt:lpstr>工具推荐—图吧工具箱</vt:lpstr>
      <vt:lpstr> Thank You!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Honda Yao/WHQ/Wistron</dc:creator>
  <cp:lastModifiedBy>yf</cp:lastModifiedBy>
  <cp:revision>175</cp:revision>
  <dcterms:created xsi:type="dcterms:W3CDTF">2024-06-12T08:50:00Z</dcterms:created>
  <dcterms:modified xsi:type="dcterms:W3CDTF">2026-10-29T16:32:05Z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0x01010000C7672327E7F04C8823F4F12A60080F</vt:lpwstr>
  </property>
  <property fmtid="{D5CDD505-2E9C-101B-9397-08002B2CF9AE}" pid="3" name="KSOProductBuildVer">
    <vt:lpwstr>2052-12.1.0.29161</vt:lpwstr>
  </property>
  <property fmtid="{D5CDD505-2E9C-101B-9397-08002B2CF9AE}" pid="4" name="ICV">
    <vt:lpwstr>ADE00E6064974870B993E9C281D1275D_12</vt:lpwstr>
  </property>
</Properties>
</file>